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8" r:id="rId14"/>
    <p:sldId id="267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515600" cy="236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400" b="1" dirty="0" err="1">
                <a:solidFill>
                  <a:srgbClr val="E30611"/>
                </a:solidFill>
                <a:latin typeface="Arial"/>
              </a:rPr>
              <a:t>StartUp</a:t>
            </a:r>
            <a:r>
              <a:rPr lang="en-US" sz="1400" b="1" dirty="0">
                <a:solidFill>
                  <a:srgbClr val="E30611"/>
                </a:solidFill>
                <a:latin typeface="Arial"/>
              </a:rPr>
              <a:t> </a:t>
            </a:r>
            <a:r>
              <a:rPr lang="en-US" sz="1400" b="1" dirty="0" err="1">
                <a:solidFill>
                  <a:srgbClr val="E30611"/>
                </a:solidFill>
                <a:latin typeface="Arial"/>
              </a:rPr>
              <a:t>Spase</a:t>
            </a:r>
            <a:r>
              <a:rPr lang="en-US" sz="1400" b="1" dirty="0">
                <a:solidFill>
                  <a:srgbClr val="E30611"/>
                </a:solidFill>
                <a:latin typeface="Arial"/>
              </a:rPr>
              <a:t> VSTU</a:t>
            </a:r>
            <a:endParaRPr lang="ru-RU" sz="1400" b="1" dirty="0">
              <a:solidFill>
                <a:srgbClr val="E30611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4000" b="1" dirty="0">
                <a:solidFill>
                  <a:srgbClr val="FFFFFF"/>
                </a:solidFill>
                <a:latin typeface="Arial"/>
              </a:rPr>
              <a:t>ИИ-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секретарь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,</a:t>
            </a:r>
          </a:p>
          <a:p>
            <a:pPr algn="l">
              <a:spcAft>
                <a:spcPts val="1400"/>
              </a:spcAft>
            </a:pPr>
            <a:r>
              <a:rPr sz="4000" b="1" dirty="0" err="1">
                <a:solidFill>
                  <a:srgbClr val="FFFFFF"/>
                </a:solidFill>
                <a:latin typeface="Arial"/>
              </a:rPr>
              <a:t>который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пропускает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важные</a:t>
            </a:r>
            <a:r>
              <a:rPr sz="4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rial"/>
              </a:rPr>
              <a:t>звонки</a:t>
            </a:r>
            <a:endParaRPr sz="4000" b="1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0"/>
              </a:spcAft>
            </a:pPr>
            <a:r>
              <a:rPr sz="1600" b="0" dirty="0" err="1">
                <a:solidFill>
                  <a:srgbClr val="C8C8CE"/>
                </a:solidFill>
                <a:latin typeface="Arial"/>
              </a:rPr>
              <a:t>Услуга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в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приложении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МТС + Telegram: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подключение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за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минуты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,
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голосовой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ответ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резюме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Ивану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контроль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C8C8CE"/>
                </a:solidFill>
                <a:latin typeface="Arial"/>
              </a:rPr>
              <a:t>сценариев</a:t>
            </a:r>
            <a:r>
              <a:rPr sz="1600" b="0" dirty="0">
                <a:solidFill>
                  <a:srgbClr val="C8C8CE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00800"/>
            <a:ext cx="37119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CJM: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Иван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Петров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 ·  Space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CorpAcc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with МТС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Проблема: входящие съедают внимание и деньги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Иван Петров, 42 — IT-предприниматель. Трубка звонит, когда он на совещании.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73152" cy="393192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0299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Пропустил лид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23160"/>
            <a:ext cx="3108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Важный клиент не дозвонился.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Сделка ушла конкуренту.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Иван узнаёт об этом слишком поздно.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73152" cy="393192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20299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Непрофессиональный ответ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23160"/>
            <a:ext cx="3108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Сам берёт трубку на бегу.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Нет контекста, срывается тон.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Бренд компании «плывёт».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5204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73152" cy="393192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20299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Рутина вместо бизнеса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423160"/>
            <a:ext cx="3108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Спам, FAQ, «ошибся номером».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Часы в неделю — впустую.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Нет силы нанять секретаря.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2/9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Инсайт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Ивану нужен не «ещё один чат-бот», а секретарь на линии.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91440" cy="9144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30611"/>
                </a:solidFill>
                <a:latin typeface="Arial"/>
              </a:rPr>
              <a:t>≤ 5 минут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93392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Подключить без интеграторов и IT-отдела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91440" cy="9144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2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30611"/>
                </a:solidFill>
                <a:latin typeface="Arial"/>
              </a:rPr>
              <a:t>Контроль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44952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Свои сценарии, правила, правки ответов 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91440" cy="9144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005072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30611"/>
                </a:solidFill>
                <a:latin typeface="Arial"/>
              </a:rPr>
              <a:t>Эскалация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96512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Важное — сразу ему; рутину закрыть самому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39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892039"/>
            <a:ext cx="91440" cy="9144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056631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30611"/>
                </a:solidFill>
                <a:latin typeface="Arial"/>
              </a:rPr>
              <a:t>Канал МТС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48071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Уже в приложении и мессенджере, которым он пользуется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3/9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Что мы сделали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Рабочий прототип услуги: приложение + бот + голосовой агент.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83080"/>
            <a:ext cx="5486400" cy="20033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0352" y="1783080"/>
            <a:ext cx="45719" cy="2003395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8424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Приложение МТС (Flet)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77440"/>
            <a:ext cx="50749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Вход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по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номеру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→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каталог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→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согласие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→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Подключить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Шаблоны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ответов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список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добавить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выключить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Настройки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голос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/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текст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/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гибрид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+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правила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История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линии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вход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выход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резюме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правка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Дашборд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важные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/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намерения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/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действия</a:t>
            </a:r>
            <a:endParaRPr sz="13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4161517"/>
            <a:ext cx="5513832" cy="20033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4161517"/>
            <a:ext cx="73152" cy="2003395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425634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1A1A1A"/>
                </a:solidFill>
                <a:latin typeface="Arial"/>
              </a:rPr>
              <a:t>Telegram + </a:t>
            </a:r>
            <a:r>
              <a:rPr sz="1500" b="1" dirty="0" err="1">
                <a:solidFill>
                  <a:srgbClr val="1A1A1A"/>
                </a:solidFill>
                <a:latin typeface="Arial"/>
              </a:rPr>
              <a:t>голос</a:t>
            </a:r>
            <a:endParaRPr sz="15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944" y="4705516"/>
            <a:ext cx="49834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Кнопка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бота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сразу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после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подключения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Демо-звонок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приветствие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голосом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5C5C62"/>
                </a:solidFill>
                <a:latin typeface="Arial"/>
              </a:rPr>
              <a:t>ГС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абонента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→ STT → LLM → TTS →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ответ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Пуши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дашборд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Ивану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в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мессенджере</a:t>
            </a:r>
            <a:endParaRPr sz="1300" b="0" dirty="0">
              <a:solidFill>
                <a:srgbClr val="5C5C62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5C5C62"/>
                </a:solidFill>
                <a:latin typeface="Arial"/>
              </a:rPr>
              <a:t>Карточка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звонка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попадает</a:t>
            </a:r>
            <a:r>
              <a:rPr sz="1300" b="0" dirty="0">
                <a:solidFill>
                  <a:srgbClr val="5C5C62"/>
                </a:solidFill>
                <a:latin typeface="Arial"/>
              </a:rPr>
              <a:t> в </a:t>
            </a:r>
            <a:r>
              <a:rPr sz="1300" b="0" dirty="0" err="1">
                <a:solidFill>
                  <a:srgbClr val="5C5C62"/>
                </a:solidFill>
                <a:latin typeface="Arial"/>
              </a:rPr>
              <a:t>историю</a:t>
            </a:r>
            <a:endParaRPr sz="13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4/9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6C1E457-2452-4F18-8F02-C32B3596C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847088"/>
            <a:ext cx="1886771" cy="430682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BFD534E-14D2-4411-B95E-AD865576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052" y="1783080"/>
            <a:ext cx="2943207" cy="43342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Как сделали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Стек под демо жюри: быстро поднять, честно показать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0611"/>
                </a:solidFill>
                <a:latin typeface="Arial"/>
              </a:rPr>
              <a:t>Клиент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Flet-приложение «как МТС»  ·  Telegram-бот (aiogram)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316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0611"/>
                </a:solidFill>
                <a:latin typeface="Arial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FastAPI  ·  история / настройки / правила / сценарии / hotline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0611"/>
                </a:solidFill>
                <a:latin typeface="Arial"/>
              </a:rPr>
              <a:t>Интеллект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429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YandexGPT + routing rules  ·  training examples в промпте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6908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0611"/>
                </a:solidFill>
                <a:latin typeface="Arial"/>
              </a:rPr>
              <a:t>Речь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251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SpeechKit STT/TTS  ·  fallback: Whisper + pyttsx3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40"/>
            <a:ext cx="111556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30611"/>
                </a:solidFill>
                <a:latin typeface="Arial"/>
              </a:rPr>
              <a:t>Данные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074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SQLite по линии  ·  секреты только в .env (не в git)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Как встраиваемся в МТС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Прототип уже сидит в каналах оператора. Дальше — инфраструктура МТС, не наш pet-проект.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89280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Сейчас (демо)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32461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UX приложения МТС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Бот как канал пушей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YandexGPT + SpeechKit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Локальный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89280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Следующий шаг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86000"/>
            <a:ext cx="32461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SIP / стрим в трубку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Биллинг с баланса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МТС ID / auth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ЦОД МТС, без зарубежного облака для ПДн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9164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691640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1" y="189280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Монетизация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2286000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Услуга в каталоге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Пакеты Basic / Plus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ARPU micro-business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Потом B2B-линии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6204" y="6492240"/>
            <a:ext cx="3609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6/9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3000" b="1" dirty="0">
                <a:solidFill>
                  <a:srgbClr val="1A1A1A"/>
                </a:solidFill>
                <a:latin typeface="Arial"/>
              </a:rPr>
              <a:t>Кто мы?</a:t>
            </a:r>
            <a:endParaRPr sz="30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334912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500" b="0" dirty="0">
                <a:solidFill>
                  <a:srgbClr val="5C5C62"/>
                </a:solidFill>
                <a:latin typeface="Arial"/>
              </a:rPr>
              <a:t>Великолепная команда – Два нуля!</a:t>
            </a:r>
            <a:endParaRPr sz="15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47609" y="16459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97317" y="1651278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01992" y="3874429"/>
            <a:ext cx="67518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500" b="1" dirty="0">
                <a:solidFill>
                  <a:srgbClr val="1A1A1A"/>
                </a:solidFill>
                <a:latin typeface="Arial"/>
              </a:rPr>
              <a:t>Влад</a:t>
            </a:r>
            <a:endParaRPr sz="15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2485" y="4236216"/>
            <a:ext cx="3246120" cy="154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dirty="0">
                <a:solidFill>
                  <a:srgbClr val="5C5C62"/>
                </a:solidFill>
                <a:latin typeface="Arial"/>
              </a:rPr>
              <a:t>Backend QA Engineer</a:t>
            </a:r>
            <a:br>
              <a:rPr lang="ru-RU" sz="1300" dirty="0">
                <a:solidFill>
                  <a:srgbClr val="5C5C62"/>
                </a:solidFill>
                <a:latin typeface="Arial"/>
              </a:rPr>
            </a:br>
            <a:br>
              <a:rPr lang="ru-RU" sz="1300" dirty="0">
                <a:solidFill>
                  <a:srgbClr val="5C5C62"/>
                </a:solidFill>
                <a:latin typeface="Arial"/>
              </a:rPr>
            </a:br>
            <a:r>
              <a:rPr lang="ru-RU" sz="1300" dirty="0">
                <a:solidFill>
                  <a:srgbClr val="5C5C62"/>
                </a:solidFill>
                <a:latin typeface="Arial"/>
              </a:rPr>
              <a:t>- Вид приложения</a:t>
            </a:r>
            <a:br>
              <a:rPr lang="ru-RU" sz="1300" dirty="0">
                <a:solidFill>
                  <a:srgbClr val="5C5C62"/>
                </a:solidFill>
                <a:latin typeface="Arial"/>
              </a:rPr>
            </a:br>
            <a:r>
              <a:rPr lang="ru-RU" sz="1300" dirty="0">
                <a:solidFill>
                  <a:srgbClr val="5C5C62"/>
                </a:solidFill>
                <a:latin typeface="Arial"/>
              </a:rPr>
              <a:t>- </a:t>
            </a:r>
            <a:r>
              <a:rPr lang="en-US" sz="1300" dirty="0" err="1">
                <a:solidFill>
                  <a:srgbClr val="5C5C62"/>
                </a:solidFill>
                <a:latin typeface="Arial"/>
              </a:rPr>
              <a:t>Tg</a:t>
            </a:r>
            <a:r>
              <a:rPr lang="en-US" sz="1300" dirty="0">
                <a:solidFill>
                  <a:srgbClr val="5C5C62"/>
                </a:solidFill>
                <a:latin typeface="Arial"/>
              </a:rPr>
              <a:t>-</a:t>
            </a:r>
            <a:r>
              <a:rPr lang="ru-RU" sz="1300" dirty="0">
                <a:solidFill>
                  <a:srgbClr val="5C5C62"/>
                </a:solidFill>
                <a:latin typeface="Arial"/>
              </a:rPr>
              <a:t>бот</a:t>
            </a:r>
          </a:p>
          <a:p>
            <a:pPr algn="l">
              <a:spcAft>
                <a:spcPts val="400"/>
              </a:spcAft>
            </a:pPr>
            <a:r>
              <a:rPr lang="ru-RU" sz="1300" b="0" dirty="0">
                <a:solidFill>
                  <a:srgbClr val="5C5C62"/>
                </a:solidFill>
                <a:latin typeface="Arial"/>
              </a:rPr>
              <a:t>- Безопасность</a:t>
            </a:r>
            <a:br>
              <a:rPr lang="ru-RU" sz="1300" b="0" dirty="0">
                <a:solidFill>
                  <a:srgbClr val="5C5C62"/>
                </a:solidFill>
                <a:latin typeface="Arial"/>
              </a:rPr>
            </a:br>
            <a:r>
              <a:rPr lang="ru-RU" sz="1300" b="0" dirty="0">
                <a:solidFill>
                  <a:srgbClr val="5C5C62"/>
                </a:solidFill>
                <a:latin typeface="Arial"/>
              </a:rPr>
              <a:t> </a:t>
            </a:r>
            <a:br>
              <a:rPr lang="ru-RU" sz="1300" dirty="0">
                <a:solidFill>
                  <a:srgbClr val="5C5C62"/>
                </a:solidFill>
                <a:latin typeface="Arial"/>
              </a:rPr>
            </a:br>
            <a:r>
              <a:rPr lang="ru-RU" sz="1300" dirty="0">
                <a:solidFill>
                  <a:srgbClr val="5C5C62"/>
                </a:solidFill>
                <a:latin typeface="Arial"/>
              </a:rPr>
              <a:t>Связаться: </a:t>
            </a:r>
            <a:r>
              <a:rPr lang="en-US" sz="1300" dirty="0">
                <a:solidFill>
                  <a:srgbClr val="5C5C62"/>
                </a:solidFill>
                <a:latin typeface="Arial"/>
              </a:rPr>
              <a:t>@WhatMeIsLove</a:t>
            </a:r>
            <a:endParaRPr lang="ru-RU" sz="13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86791" y="1655053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36499" y="1651278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8888" y="3874429"/>
            <a:ext cx="65114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500" b="1" dirty="0">
                <a:solidFill>
                  <a:srgbClr val="1A1A1A"/>
                </a:solidFill>
                <a:latin typeface="Arial"/>
              </a:rPr>
              <a:t>Дана</a:t>
            </a:r>
            <a:endParaRPr sz="15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8888" y="4251011"/>
            <a:ext cx="324612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b="0" dirty="0">
                <a:solidFill>
                  <a:srgbClr val="5C5C62"/>
                </a:solidFill>
                <a:latin typeface="Arial"/>
              </a:rPr>
              <a:t>Backend &amp; </a:t>
            </a:r>
            <a:r>
              <a:rPr lang="en-US" sz="1300" b="0" dirty="0" err="1">
                <a:solidFill>
                  <a:srgbClr val="5C5C62"/>
                </a:solidFill>
                <a:latin typeface="Arial"/>
              </a:rPr>
              <a:t>Gamedev</a:t>
            </a:r>
            <a:r>
              <a:rPr lang="en-US" sz="1300" b="0" dirty="0">
                <a:solidFill>
                  <a:srgbClr val="5C5C62"/>
                </a:solidFill>
                <a:latin typeface="Arial"/>
              </a:rPr>
              <a:t> </a:t>
            </a:r>
            <a:r>
              <a:rPr lang="ru-RU" sz="1300" b="0" dirty="0">
                <a:solidFill>
                  <a:srgbClr val="5C5C62"/>
                </a:solidFill>
                <a:latin typeface="Arial"/>
              </a:rPr>
              <a:t>разработчик</a:t>
            </a:r>
            <a:br>
              <a:rPr lang="en-US" sz="1300" b="0" dirty="0">
                <a:solidFill>
                  <a:srgbClr val="5C5C62"/>
                </a:solidFill>
                <a:latin typeface="Arial"/>
              </a:rPr>
            </a:br>
            <a:br>
              <a:rPr lang="en-US" sz="1300" b="0" dirty="0">
                <a:solidFill>
                  <a:srgbClr val="5C5C62"/>
                </a:solidFill>
                <a:latin typeface="Arial"/>
              </a:rPr>
            </a:br>
            <a:r>
              <a:rPr lang="ru-RU" sz="1300" b="0" dirty="0">
                <a:solidFill>
                  <a:srgbClr val="5C5C62"/>
                </a:solidFill>
                <a:latin typeface="Arial"/>
              </a:rPr>
              <a:t>- Голос модели</a:t>
            </a:r>
            <a:br>
              <a:rPr lang="ru-RU" sz="1300" b="0" dirty="0">
                <a:solidFill>
                  <a:srgbClr val="5C5C62"/>
                </a:solidFill>
                <a:latin typeface="Arial"/>
              </a:rPr>
            </a:br>
            <a:r>
              <a:rPr lang="ru-RU" sz="1300" b="0" dirty="0">
                <a:solidFill>
                  <a:srgbClr val="5C5C62"/>
                </a:solidFill>
                <a:latin typeface="Arial"/>
              </a:rPr>
              <a:t>- Обработка сервера</a:t>
            </a:r>
            <a:br>
              <a:rPr lang="ru-RU" sz="1300" b="0" dirty="0">
                <a:solidFill>
                  <a:srgbClr val="5C5C62"/>
                </a:solidFill>
                <a:latin typeface="Arial"/>
              </a:rPr>
            </a:br>
            <a:r>
              <a:rPr lang="ru-RU" sz="1300" b="0" dirty="0">
                <a:solidFill>
                  <a:srgbClr val="5C5C62"/>
                </a:solidFill>
                <a:latin typeface="Arial"/>
              </a:rPr>
              <a:t>- Настройка шаблонов </a:t>
            </a:r>
            <a:br>
              <a:rPr lang="en-US" sz="1300" b="0" dirty="0">
                <a:solidFill>
                  <a:srgbClr val="5C5C62"/>
                </a:solidFill>
                <a:latin typeface="Arial"/>
              </a:rPr>
            </a:br>
            <a:br>
              <a:rPr lang="en-US" sz="1300" b="0" dirty="0">
                <a:solidFill>
                  <a:srgbClr val="5C5C62"/>
                </a:solidFill>
                <a:latin typeface="Arial"/>
              </a:rPr>
            </a:br>
            <a:r>
              <a:rPr lang="ru-RU" sz="1300" b="0" dirty="0">
                <a:solidFill>
                  <a:srgbClr val="5C5C62"/>
                </a:solidFill>
                <a:latin typeface="Arial"/>
              </a:rPr>
              <a:t>Связаться: </a:t>
            </a:r>
            <a:r>
              <a:rPr lang="en-US" sz="1300" b="0" dirty="0">
                <a:solidFill>
                  <a:srgbClr val="5C5C62"/>
                </a:solidFill>
                <a:latin typeface="Arial"/>
              </a:rPr>
              <a:t>@IKnowAllYourSecretss</a:t>
            </a:r>
            <a:endParaRPr lang="ru-RU" sz="13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8A8A90"/>
                </a:solidFill>
                <a:latin typeface="Arial"/>
              </a:rPr>
              <a:t>ИИ-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секретарь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входящих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·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прототип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для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МТС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8/9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21F706B-0E09-42B7-ABB3-344146453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346" y="1874520"/>
            <a:ext cx="2161492" cy="2161492"/>
          </a:xfrm>
          <a:prstGeom prst="ellipse">
            <a:avLst/>
          </a:prstGeom>
        </p:spPr>
      </p:pic>
      <p:pic>
        <p:nvPicPr>
          <p:cNvPr id="1026" name="Picture 2" descr="profile-avatar">
            <a:extLst>
              <a:ext uri="{FF2B5EF4-FFF2-40B4-BE49-F238E27FC236}">
                <a16:creationId xmlns:a16="http://schemas.microsoft.com/office/drawing/2014/main" id="{C581D9DE-73EC-4579-A095-6CEEABFB8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923" y="1898614"/>
            <a:ext cx="2210972" cy="221097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334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15664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FFFFFF"/>
                </a:solidFill>
                <a:latin typeface="Arial"/>
              </a:rPr>
              <a:t>StartUp</a:t>
            </a:r>
            <a:r>
              <a:rPr lang="en-US" sz="1100" b="1" dirty="0">
                <a:solidFill>
                  <a:srgbClr val="FFFFFF"/>
                </a:solidFill>
                <a:latin typeface="Arial"/>
              </a:rPr>
              <a:t>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3000" b="1" dirty="0">
                <a:solidFill>
                  <a:srgbClr val="1A1A1A"/>
                </a:solidFill>
                <a:latin typeface="Arial"/>
              </a:rPr>
              <a:t>Вопросы и ответы</a:t>
            </a:r>
            <a:endParaRPr sz="30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390889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500" b="0" dirty="0">
                <a:solidFill>
                  <a:srgbClr val="5C5C62"/>
                </a:solidFill>
                <a:latin typeface="Arial"/>
              </a:rPr>
              <a:t>Буду рад ответить на возникшие вопросы</a:t>
            </a:r>
            <a:endParaRPr sz="1500" b="0" dirty="0">
              <a:solidFill>
                <a:srgbClr val="5C5C62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8A8A90"/>
                </a:solidFill>
                <a:latin typeface="Arial"/>
              </a:rPr>
              <a:t>ИИ-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секретарь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входящих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·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прототип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8A8A90"/>
                </a:solidFill>
                <a:latin typeface="Arial"/>
              </a:rPr>
              <a:t>для</a:t>
            </a:r>
            <a:r>
              <a:rPr sz="1000" b="0" dirty="0">
                <a:solidFill>
                  <a:srgbClr val="8A8A90"/>
                </a:solidFill>
                <a:latin typeface="Arial"/>
              </a:rPr>
              <a:t> МТС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6203" y="6492240"/>
            <a:ext cx="360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9/9</a:t>
            </a:r>
            <a:endParaRPr sz="1000" b="0" dirty="0">
              <a:solidFill>
                <a:srgbClr val="8A8A90"/>
              </a:solidFill>
              <a:latin typeface="Arial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5F1FFD0-9340-4C3D-9169-A401DF816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53" y="1923365"/>
            <a:ext cx="2806652" cy="4211866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95211FA-F839-45AA-B05D-BE1AC80B8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598" y="1906612"/>
            <a:ext cx="2764426" cy="4139167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D03B1FF-FDEC-4C48-A6B2-3CC1F62B0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989" y="1866907"/>
            <a:ext cx="3157083" cy="4625334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5FC2EDF-E908-430E-9FFE-B19F898EA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4072" y="1916526"/>
            <a:ext cx="3087623" cy="4079631"/>
          </a:xfrm>
          <a:prstGeom prst="rect">
            <a:avLst/>
          </a:prstGeom>
        </p:spPr>
      </p:pic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7EB7C011-CAE3-4EDA-A934-6AFA69815AC1}"/>
              </a:ext>
            </a:extLst>
          </p:cNvPr>
          <p:cNvCxnSpPr>
            <a:cxnSpLocks/>
          </p:cNvCxnSpPr>
          <p:nvPr/>
        </p:nvCxnSpPr>
        <p:spPr>
          <a:xfrm flipH="1">
            <a:off x="2966316" y="1999785"/>
            <a:ext cx="63282" cy="4135446"/>
          </a:xfrm>
          <a:prstGeom prst="line">
            <a:avLst/>
          </a:prstGeom>
          <a:ln w="15875">
            <a:solidFill>
              <a:schemeClr val="accent2">
                <a:lumMod val="60000"/>
                <a:lumOff val="40000"/>
                <a:alpha val="3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4B5455BF-55A9-4412-9EC6-1D425BC18A3B}"/>
              </a:ext>
            </a:extLst>
          </p:cNvPr>
          <p:cNvCxnSpPr>
            <a:cxnSpLocks/>
          </p:cNvCxnSpPr>
          <p:nvPr/>
        </p:nvCxnSpPr>
        <p:spPr>
          <a:xfrm flipH="1">
            <a:off x="5807224" y="1860711"/>
            <a:ext cx="63282" cy="4135446"/>
          </a:xfrm>
          <a:prstGeom prst="line">
            <a:avLst/>
          </a:prstGeom>
          <a:ln w="15875">
            <a:solidFill>
              <a:schemeClr val="accent2">
                <a:lumMod val="60000"/>
                <a:lumOff val="40000"/>
                <a:alpha val="3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A0CB53A3-A5B1-411E-9CCC-BC5D8CDB4920}"/>
              </a:ext>
            </a:extLst>
          </p:cNvPr>
          <p:cNvCxnSpPr>
            <a:cxnSpLocks/>
          </p:cNvCxnSpPr>
          <p:nvPr/>
        </p:nvCxnSpPr>
        <p:spPr>
          <a:xfrm flipH="1">
            <a:off x="9072431" y="1860711"/>
            <a:ext cx="63282" cy="4135446"/>
          </a:xfrm>
          <a:prstGeom prst="line">
            <a:avLst/>
          </a:prstGeom>
          <a:ln w="15875">
            <a:solidFill>
              <a:schemeClr val="accent2">
                <a:lumMod val="60000"/>
                <a:lumOff val="40000"/>
                <a:alpha val="3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E1E73F3-3B31-4497-9BEE-3B50B2B16708}"/>
              </a:ext>
            </a:extLst>
          </p:cNvPr>
          <p:cNvSpPr/>
          <p:nvPr/>
        </p:nvSpPr>
        <p:spPr>
          <a:xfrm>
            <a:off x="5870506" y="6281854"/>
            <a:ext cx="3660070" cy="266202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92337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StartUp Space VSTU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A1A1A"/>
                </a:solidFill>
                <a:latin typeface="Arial"/>
              </a:rPr>
              <a:t>Тесты и аналитика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5C62"/>
                </a:solidFill>
                <a:latin typeface="Arial"/>
              </a:rPr>
              <a:t>Заказчику видно: качество под контролем, а Иван видит картину по линии.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9280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Тесты (качество)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5074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Контракты API и матрица маршрутизации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Живой звонок: VAD, barge-in, многоходовый диалог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UI приложения и дашборд Telegram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Fallback: если Yandex недоступен — Whisper / edge-tts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Изоляция данных: история только своей линии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73152" cy="4114800"/>
          </a:xfrm>
          <a:prstGeom prst="rect">
            <a:avLst/>
          </a:prstGeom>
          <a:solidFill>
            <a:srgbClr val="E3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89280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Аналитика (ценность Ивану)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86000"/>
            <a:ext cx="4983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Дашборд: важные / рутина / доля critical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История звонков + фильтр + правка карточки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Статистика по intent / action / priority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Пуш в Telegram с резюме после звонка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5C62"/>
                </a:solidFill>
                <a:latin typeface="Arial"/>
              </a:rPr>
              <a:t>Метрики линии — без Excel и ручного разбора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A8A90"/>
                </a:solidFill>
                <a:latin typeface="Arial"/>
              </a:rPr>
              <a:t>ИИ-секретарь входящих · прототип для МТС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8A8A90"/>
                </a:solidFill>
                <a:latin typeface="Arial"/>
              </a:rPr>
              <a:t>7/9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553</Words>
  <Application>Microsoft Office PowerPoint</Application>
  <PresentationFormat>Широкоэкранный</PresentationFormat>
  <Paragraphs>102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Владислав Мещеряк</cp:lastModifiedBy>
  <cp:revision>5</cp:revision>
  <dcterms:created xsi:type="dcterms:W3CDTF">2013-01-27T09:14:16Z</dcterms:created>
  <dcterms:modified xsi:type="dcterms:W3CDTF">2026-10-07T14:13:40Z</dcterms:modified>
  <cp:category/>
</cp:coreProperties>
</file>